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4C8"/>
                </a:solidFill>
                <a:latin typeface="Arial"/>
              </a:rPr>
              <a:t>INTERNAL TRAINING  ·  APJ SYSTEMS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Advanced SRX Firewall</a:t>
            </a:r>
          </a:p>
          <a:p>
            <a:r>
              <a:rPr sz="4400" b="1">
                <a:solidFill>
                  <a:srgbClr val="388BFD"/>
                </a:solidFill>
                <a:latin typeface="Arial"/>
              </a:rPr>
              <a:t>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Arial"/>
              </a:rPr>
              <a:t>3-Day Intensive  ·  Singapore  ·  June 2 –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49039"/>
            <a:ext cx="7772400" cy="12700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977639"/>
            <a:ext cx="260604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005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📅  June 2 – 4,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977639"/>
            <a:ext cx="260604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4005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📍  HPE Singapore · Depot Close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977639"/>
            <a:ext cx="260604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4005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👥  ≤ 10 SEs · Internal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3977639"/>
            <a:ext cx="260604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4005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🏆  JNCIS-SEC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  <a:latin typeface="Arial"/>
              </a:rPr>
              <a:t>CONFIDENTIAL ·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BFD"/>
                </a:solidFill>
                <a:latin typeface="Arial"/>
              </a:rPr>
              <a:t>AGENDA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3-Day Schedule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2700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703320" cy="530352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70332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081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Arial"/>
              </a:rPr>
              <a:t>Day 01 · Mon · June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64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JCL Lab, SE Tools &amp; High Availability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194560"/>
            <a:ext cx="3374136" cy="9525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59152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286000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Welcome &amp; lab access verification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980944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907792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SRX Packet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602736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29584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Lab 1 · JCL lab exercise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224528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151376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High Availability — MNHA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846320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773168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SRX Tap Mode POC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468112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5394960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SE 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280160"/>
            <a:ext cx="3703320" cy="530352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280160"/>
            <a:ext cx="370332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14081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Arial"/>
              </a:rPr>
              <a:t>Day 02 · Tue · June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1664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Sizing, Security Director &amp; Automation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2194560"/>
            <a:ext cx="3374136" cy="9525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2359152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2286000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Multi-tenant Support (TSYS / LSYS)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0832" y="2980944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7136" y="2907792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Sizing and BOM + Exercise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2" y="3602736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3529584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Security Director Cloud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4224528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7136" y="4151376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Lab · Security Director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4846320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4773168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SRX Automation: MCP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1280160"/>
            <a:ext cx="3703320" cy="530352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280160"/>
            <a:ext cx="370332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14081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Arial"/>
              </a:rPr>
              <a:t>Day 03 · Wed · June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1664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Cloud, Virtualization &amp; Advanced Security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1312" y="2194560"/>
            <a:ext cx="3374136" cy="9525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11312" y="2359152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6" y="2286000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Cloud and Virtualization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11312" y="2980944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6" y="2907792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Advanced Security Threat Lab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11312" y="3602736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3529584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EVPN / Secure Data Center Architecture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11312" y="4224528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7616" y="4151376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CGNAT on MX and SRX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11312" y="4846320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6" y="4773168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CSDS Scale Out Architecture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11312" y="5468112"/>
            <a:ext cx="54864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57616" y="5394960"/>
            <a:ext cx="3227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Arial"/>
              </a:rPr>
              <a:t>Wrap-up &amp; next-step learning paths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4C8"/>
                </a:solidFill>
                <a:latin typeface="Arial"/>
              </a:rPr>
              <a:t>📹  Day 1 morning sessions are remote (via Teams) due to scheduled fire drill at HPE Depot Close.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Arial"/>
              </a:rPr>
              <a:t>DAY 01 ·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JCL Lab, SE Tools &amp; High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60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Arial"/>
              </a:rPr>
              <a:t>June 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2700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1430000" cy="256032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TIME (SGT)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0515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DUR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0515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051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98448"/>
            <a:ext cx="11430000" cy="522224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298448"/>
            <a:ext cx="54864" cy="522224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35024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9:00 – 9:30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1335024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1335024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Welcome, introductions &amp; lab access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1353312"/>
            <a:ext cx="1828800" cy="40690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362456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16139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6EC8"/>
                </a:solidFill>
                <a:latin typeface="Arial"/>
              </a:rPr>
              <a:t>📹 Remote · via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33372"/>
            <a:ext cx="11430000" cy="522224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833372"/>
            <a:ext cx="54864" cy="522224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869948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9:30 – 10:00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1869948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4328" y="1869948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SRX Packet walkthrough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9488" y="1888236"/>
            <a:ext cx="1828800" cy="40690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897380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4328" y="21488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6EC8"/>
                </a:solidFill>
                <a:latin typeface="Arial"/>
              </a:rPr>
              <a:t>📹 Remote · via Teams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68296"/>
            <a:ext cx="11430000" cy="522224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368296"/>
            <a:ext cx="54864" cy="522224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2404872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10:00 – 12:00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2404872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2 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2404872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Lab 1 · JCL lab exercise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2423160"/>
            <a:ext cx="1828800" cy="406908"/>
          </a:xfrm>
          <a:prstGeom prst="rect">
            <a:avLst/>
          </a:prstGeom>
          <a:solidFill>
            <a:srgbClr val="1A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2432304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88BFD"/>
                </a:solidFill>
                <a:latin typeface="Arial"/>
              </a:rPr>
              <a:t>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4328" y="26837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A6EC8"/>
                </a:solidFill>
                <a:latin typeface="Arial"/>
              </a:rPr>
              <a:t>📹 Remote · via Teams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03220"/>
            <a:ext cx="11430000" cy="5222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2939796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12:00 – 1:00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2939796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4328" y="2939796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  <a:latin typeface="Arial"/>
              </a:rPr>
              <a:t>Lunch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38144"/>
            <a:ext cx="11430000" cy="522224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474720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1:00 – 2:00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8528" y="3474720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24328" y="3474720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High Availability — MNHA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19488" y="3493008"/>
            <a:ext cx="1828800" cy="40690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502152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973068"/>
            <a:ext cx="11430000" cy="5222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4009644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2:00 – 2:30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8528" y="4009644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24328" y="4009644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507992"/>
            <a:ext cx="11430000" cy="522224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544568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2:30 – 3:30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8528" y="4544568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4328" y="4544568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SRX Tap Mode POC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19488" y="4562856"/>
            <a:ext cx="1828800" cy="40690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4572000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042916"/>
            <a:ext cx="11430000" cy="5222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" y="5079492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3:30 – 4:00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38528" y="5079492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4328" y="5079492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577840"/>
            <a:ext cx="11430000" cy="522224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5614416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4:00 – 5:00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38528" y="5614416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24328" y="5614416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SE Tools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19488" y="5632704"/>
            <a:ext cx="1828800" cy="40690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0" y="5641848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112764"/>
            <a:ext cx="11430000" cy="522224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6149340"/>
            <a:ext cx="141732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5:00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38528" y="6149340"/>
            <a:ext cx="6400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24328" y="6149340"/>
            <a:ext cx="685800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Day 1 recap &amp; end of day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19488" y="6167628"/>
            <a:ext cx="1828800" cy="40690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92640" y="6176772"/>
            <a:ext cx="169164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DISCUSSION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601968"/>
            <a:ext cx="11430000" cy="9525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A"/>
                </a:solidFill>
                <a:latin typeface="Arial"/>
              </a:rPr>
              <a:t>Advanced SRX Firewall Bootcamp · Internal · APJ Systems Engineering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0" y="66476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657A"/>
                </a:solidFill>
                <a:latin typeface="Arial"/>
              </a:rPr>
              <a:t>June 2,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Arial"/>
              </a:rPr>
              <a:t>DAY 02 · TUESDAY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Sizing, Security Director &amp;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60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Arial"/>
              </a:rPr>
              <a:t>June 3,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2700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1430000" cy="256032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TIME (SGT)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0515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DUR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0515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051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98448"/>
            <a:ext cx="11430000" cy="43307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33502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9:00 – 9:15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133502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15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133502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Day 1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353312"/>
            <a:ext cx="1828800" cy="317754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36245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44218"/>
            <a:ext cx="11430000" cy="43307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78079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9:15 – 10:15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178079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178079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Multi-tenant Support with TSYS and LSYS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9488" y="1799082"/>
            <a:ext cx="1828800" cy="317754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80822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189988"/>
            <a:ext cx="11430000" cy="43307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222656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10:15 – 10:30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222656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4328" y="222656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35758"/>
            <a:ext cx="11430000" cy="43307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67233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10:30 – 11:30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267233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4328" y="267233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Sizing and BOM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690622"/>
            <a:ext cx="1828800" cy="317754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69976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81528"/>
            <a:ext cx="11430000" cy="433070"/>
          </a:xfrm>
          <a:prstGeom prst="rect">
            <a:avLst/>
          </a:prstGeom>
          <a:solidFill>
            <a:srgbClr val="22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11810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11:30 – 12:00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38528" y="311810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4328" y="311810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Sizing and BOM Exercise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9488" y="3136392"/>
            <a:ext cx="1828800" cy="317754"/>
          </a:xfrm>
          <a:prstGeom prst="rect">
            <a:avLst/>
          </a:prstGeom>
          <a:solidFill>
            <a:srgbClr val="1A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14553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88BFD"/>
                </a:solidFill>
                <a:latin typeface="Arial"/>
              </a:rPr>
              <a:t>LAB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527298"/>
            <a:ext cx="11430000" cy="43307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56387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12:00 – 1:00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8528" y="356387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24328" y="356387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Lunch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973068"/>
            <a:ext cx="11430000" cy="43307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00964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1:00 – 2:00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8528" y="400964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4328" y="400964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Security Director / Security Director 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19488" y="4027932"/>
            <a:ext cx="1828800" cy="317754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403707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418838"/>
            <a:ext cx="11430000" cy="43307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45541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2:00 – 2:30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8528" y="445541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4328" y="445541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64608"/>
            <a:ext cx="11430000" cy="433070"/>
          </a:xfrm>
          <a:prstGeom prst="rect">
            <a:avLst/>
          </a:prstGeom>
          <a:solidFill>
            <a:srgbClr val="22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490118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2:30 – 3:30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38528" y="490118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24328" y="490118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Lab · Security Director Cloud Configuration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19488" y="4919472"/>
            <a:ext cx="1828800" cy="317754"/>
          </a:xfrm>
          <a:prstGeom prst="rect">
            <a:avLst/>
          </a:prstGeom>
          <a:solidFill>
            <a:srgbClr val="1A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492861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88BFD"/>
                </a:solidFill>
                <a:latin typeface="Arial"/>
              </a:rPr>
              <a:t>LAB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10378"/>
            <a:ext cx="11430000" cy="43307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534695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3:30 – 4:00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38528" y="534695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24328" y="534695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756148"/>
            <a:ext cx="11430000" cy="43307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" y="579272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4:00 – 5:00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38528" y="579272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24328" y="579272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SRX Automation: MCP Integration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9488" y="5811012"/>
            <a:ext cx="1828800" cy="317754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582015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6201918"/>
            <a:ext cx="11430000" cy="43307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" y="6238494"/>
            <a:ext cx="141732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5:00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38528" y="6238494"/>
            <a:ext cx="64008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24328" y="6238494"/>
            <a:ext cx="68580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Day 2 recap &amp; end of day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19488" y="6256782"/>
            <a:ext cx="1828800" cy="317754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0" y="6265926"/>
            <a:ext cx="1691640" cy="31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DISCUSSION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6601968"/>
            <a:ext cx="11430000" cy="9525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A"/>
                </a:solidFill>
                <a:latin typeface="Arial"/>
              </a:rPr>
              <a:t>Advanced SRX Firewall Bootcamp · Internal · APJ Systems Engineering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66476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657A"/>
                </a:solidFill>
                <a:latin typeface="Arial"/>
              </a:rPr>
              <a:t>June 3,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Arial"/>
              </a:rPr>
              <a:t>DAY 03 ·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Cloud, Virtualization &amp; Advanced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60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Arial"/>
              </a:rPr>
              <a:t>June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2700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1430000" cy="256032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TIME (SGT)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0515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DUR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0515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051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57A"/>
                </a:solidFill>
                <a:latin typeface="Arial"/>
              </a:rPr>
              <a:t>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98448"/>
            <a:ext cx="11430000" cy="473594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335024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9:00 – 9:15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1335024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15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1335024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Day 2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353312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362456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84742"/>
            <a:ext cx="11430000" cy="473594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21318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9:15 – 10:15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1821318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1821318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Cloud and Virtualization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9488" y="1839606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848750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71037"/>
            <a:ext cx="11430000" cy="47359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2307613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10:15 – 10:30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2307613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4328" y="2307613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57331"/>
            <a:ext cx="11430000" cy="473594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793907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10:30 – 11:30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2793907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4328" y="2793907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Advanced Security Threat Lab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812195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821339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243626"/>
            <a:ext cx="11430000" cy="47359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280202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11:30 – 12:30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38528" y="3280202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4328" y="3280202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Lunch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29920"/>
            <a:ext cx="11430000" cy="473594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3766496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1:30 – 2:30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8528" y="3766496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60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4328" y="3766496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EVPN / Secure Data Center Architecture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19488" y="3784784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793928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16215"/>
            <a:ext cx="11430000" cy="47359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252791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2:30 – 3:00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8528" y="4252791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4328" y="4252791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702509"/>
            <a:ext cx="11430000" cy="473594"/>
          </a:xfrm>
          <a:prstGeom prst="rect">
            <a:avLst/>
          </a:prstGeom>
          <a:solidFill>
            <a:srgbClr val="13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4739085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3:00 – 3:30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8528" y="4739085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24328" y="4739085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CGNAT on MX and SRX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19488" y="4757373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4766517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88804"/>
            <a:ext cx="11430000" cy="473594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5225380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3:30 – 4:15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38528" y="5225380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45 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24328" y="5225380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CSDS Scale Out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19488" y="5243668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5252812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LECTURE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675098"/>
            <a:ext cx="11430000" cy="47359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5711674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4:15 – 4:45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38528" y="5711674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30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24328" y="5711674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Arial"/>
              </a:rPr>
              <a:t>Break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6161393"/>
            <a:ext cx="11430000" cy="473594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" y="6197969"/>
            <a:ext cx="141732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4:45 – 5:30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38528" y="6197969"/>
            <a:ext cx="64008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A"/>
                </a:solidFill>
                <a:latin typeface="Arial"/>
              </a:rPr>
              <a:t>45 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24328" y="6197969"/>
            <a:ext cx="685800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Wrap-up &amp; next-step learning paths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9488" y="6216257"/>
            <a:ext cx="1828800" cy="358278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6225401"/>
            <a:ext cx="1691640" cy="35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57A"/>
                </a:solidFill>
                <a:latin typeface="Arial"/>
              </a:rPr>
              <a:t>DISCUSSION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6601968"/>
            <a:ext cx="11430000" cy="9525"/>
          </a:xfrm>
          <a:prstGeom prst="rect">
            <a:avLst/>
          </a:prstGeom>
          <a:solidFill>
            <a:srgbClr val="2C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A"/>
                </a:solidFill>
                <a:latin typeface="Arial"/>
              </a:rPr>
              <a:t>Advanced SRX Firewall Bootcamp · Internal · APJ Systems Engineering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66476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657A"/>
                </a:solidFill>
                <a:latin typeface="Arial"/>
              </a:rPr>
              <a:t>June 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